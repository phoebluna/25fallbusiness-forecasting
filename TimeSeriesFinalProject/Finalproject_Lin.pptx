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Palatino Linotype"/>
      <p:regular r:id="rId19"/>
      <p:bold r:id="rId20"/>
      <p:italic r:id="rId21"/>
      <p:boldItalic r:id="rId22"/>
    </p:embeddedFont>
    <p:embeddedFont>
      <p:font typeface="Caveat Medium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alatinoLinotype-bold.fntdata"/><Relationship Id="rId11" Type="http://schemas.openxmlformats.org/officeDocument/2006/relationships/slide" Target="slides/slide7.xml"/><Relationship Id="rId22" Type="http://schemas.openxmlformats.org/officeDocument/2006/relationships/font" Target="fonts/PalatinoLinotype-boldItalic.fntdata"/><Relationship Id="rId10" Type="http://schemas.openxmlformats.org/officeDocument/2006/relationships/slide" Target="slides/slide6.xml"/><Relationship Id="rId21" Type="http://schemas.openxmlformats.org/officeDocument/2006/relationships/font" Target="fonts/PalatinoLinotype-italic.fntdata"/><Relationship Id="rId13" Type="http://schemas.openxmlformats.org/officeDocument/2006/relationships/slide" Target="slides/slide9.xml"/><Relationship Id="rId24" Type="http://schemas.openxmlformats.org/officeDocument/2006/relationships/font" Target="fonts/CaveatMedium-bold.fntdata"/><Relationship Id="rId12" Type="http://schemas.openxmlformats.org/officeDocument/2006/relationships/slide" Target="slides/slide8.xml"/><Relationship Id="rId23" Type="http://schemas.openxmlformats.org/officeDocument/2006/relationships/font" Target="fonts/CaveatMediu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alatinoLinotype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0014e7c09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70014e7c09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70014e7c09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656557d72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8656557d72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8656557d72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656557d72_1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8656557d72_1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8656557d72_1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0014e7c09_1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70014e7c09_1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70014e7c09_1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656557d72_1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8656557d72_1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8656557d72_1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656557d72_1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8656557d72_1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8656557d72_1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656557d72_1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8656557d72_1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8656557d72_1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656557d72_1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8656557d72_1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8656557d72_1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656557d72_1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8656557d72_1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8656557d72_1_1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656557d72_1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8656557d72_1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8656557d72_1_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234439"/>
            <a:ext cx="9144000" cy="22755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A black background with a black square&#10;&#10;Description automatically generated with medium confidence"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457200"/>
            <a:ext cx="2621890" cy="77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34" name="Google Shape;3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43" name="Google Shape;4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48" name="Google Shape;4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52" name="Google Shape;5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6" name="Google Shape;56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59" name="Google Shape;5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66" name="Google Shape;6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72" name="Google Shape;7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78" name="Google Shape;7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3.jpg"/><Relationship Id="rId5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12.jpg"/><Relationship Id="rId5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300775"/>
            <a:ext cx="10078500" cy="28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alatino Linotype"/>
              <a:buNone/>
            </a:pPr>
            <a:r>
              <a:rPr b="1" lang="en-US" sz="4800">
                <a:latin typeface="Times New Roman"/>
                <a:ea typeface="Times New Roman"/>
                <a:cs typeface="Times New Roman"/>
                <a:sym typeface="Times New Roman"/>
              </a:rPr>
              <a:t>Time Series Forecasting</a:t>
            </a:r>
            <a:endParaRPr b="1"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alatino Linotype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 — </a:t>
            </a: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Japan Tourist Arrivals to Australia</a:t>
            </a:r>
            <a:br>
              <a:rPr b="1" lang="en-US" sz="4800">
                <a:latin typeface="Palatino Linotype"/>
                <a:ea typeface="Palatino Linotype"/>
                <a:cs typeface="Palatino Linotype"/>
                <a:sym typeface="Palatino Linotype"/>
              </a:rPr>
            </a:br>
            <a:endParaRPr b="1" sz="4000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453243" y="3881770"/>
            <a:ext cx="9285514" cy="946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Palatino Linotype"/>
                <a:ea typeface="Palatino Linotype"/>
                <a:cs typeface="Palatino Linotype"/>
                <a:sym typeface="Palatino Linotype"/>
              </a:rPr>
              <a:t>by</a:t>
            </a:r>
            <a:r>
              <a:rPr lang="en-US"/>
              <a:t> </a:t>
            </a:r>
            <a:r>
              <a:rPr lang="en-US" sz="1800">
                <a:latin typeface="Palatino Linotype"/>
                <a:ea typeface="Palatino Linotype"/>
                <a:cs typeface="Palatino Linotype"/>
                <a:sym typeface="Palatino Linotype"/>
              </a:rPr>
              <a:t>Lin Xiao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Palatino Linotype"/>
                <a:ea typeface="Palatino Linotype"/>
                <a:cs typeface="Palatino Linotype"/>
                <a:sym typeface="Palatino Linotype"/>
              </a:rPr>
              <a:t>Nov 10</a:t>
            </a:r>
            <a:r>
              <a:rPr lang="en-US" sz="1800">
                <a:latin typeface="Palatino Linotype"/>
                <a:ea typeface="Palatino Linotype"/>
                <a:cs typeface="Palatino Linotype"/>
                <a:sym typeface="Palatino Linotype"/>
              </a:rPr>
              <a:t>, 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1017431" y="365125"/>
            <a:ext cx="1033636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Motivation</a:t>
            </a:r>
            <a:endParaRPr b="1"/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75" y="1609525"/>
            <a:ext cx="4483926" cy="44519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4"/>
          <p:cNvSpPr txBox="1"/>
          <p:nvPr>
            <p:ph idx="2" type="body"/>
          </p:nvPr>
        </p:nvSpPr>
        <p:spPr>
          <a:xfrm>
            <a:off x="4945800" y="1480125"/>
            <a:ext cx="6897300" cy="50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563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en-US" sz="2175">
                <a:latin typeface="Arial"/>
                <a:ea typeface="Arial"/>
                <a:cs typeface="Arial"/>
                <a:sym typeface="Arial"/>
              </a:rPr>
              <a:t>Forecast </a:t>
            </a:r>
            <a:r>
              <a:rPr b="1" lang="en-US" sz="2175">
                <a:latin typeface="Arial"/>
                <a:ea typeface="Arial"/>
                <a:cs typeface="Arial"/>
                <a:sym typeface="Arial"/>
              </a:rPr>
              <a:t>quarterly international tourist arrivals to Australia</a:t>
            </a:r>
            <a:r>
              <a:rPr lang="en-US" sz="2175">
                <a:latin typeface="Arial"/>
                <a:ea typeface="Arial"/>
                <a:cs typeface="Arial"/>
                <a:sym typeface="Arial"/>
              </a:rPr>
              <a:t> from the major market </a:t>
            </a:r>
            <a:r>
              <a:rPr b="1" lang="en-US" sz="2175">
                <a:latin typeface="Arial"/>
                <a:ea typeface="Arial"/>
                <a:cs typeface="Arial"/>
                <a:sym typeface="Arial"/>
              </a:rPr>
              <a:t>Japan</a:t>
            </a:r>
            <a:br>
              <a:rPr b="1" lang="en-US" sz="2175">
                <a:latin typeface="Arial"/>
                <a:ea typeface="Arial"/>
                <a:cs typeface="Arial"/>
                <a:sym typeface="Arial"/>
              </a:rPr>
            </a:br>
            <a:endParaRPr b="1" sz="2175">
              <a:latin typeface="Arial"/>
              <a:ea typeface="Arial"/>
              <a:cs typeface="Arial"/>
              <a:sym typeface="Arial"/>
            </a:endParaRPr>
          </a:p>
          <a:p>
            <a:pPr indent="-356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175">
                <a:latin typeface="Arial"/>
                <a:ea typeface="Arial"/>
                <a:cs typeface="Arial"/>
                <a:sym typeface="Arial"/>
              </a:rPr>
              <a:t>Tourism arrivals directly </a:t>
            </a:r>
            <a:r>
              <a:rPr b="1" lang="en-US" sz="2175">
                <a:latin typeface="Arial"/>
                <a:ea typeface="Arial"/>
                <a:cs typeface="Arial"/>
                <a:sym typeface="Arial"/>
              </a:rPr>
              <a:t>impact business operations</a:t>
            </a:r>
            <a:r>
              <a:rPr lang="en-US" sz="2175">
                <a:latin typeface="Arial"/>
                <a:ea typeface="Arial"/>
                <a:cs typeface="Arial"/>
                <a:sym typeface="Arial"/>
              </a:rPr>
              <a:t> — forecasting helps companies anticipate and manage demand</a:t>
            </a:r>
            <a:br>
              <a:rPr lang="en-US" sz="2175">
                <a:latin typeface="Arial"/>
                <a:ea typeface="Arial"/>
                <a:cs typeface="Arial"/>
                <a:sym typeface="Arial"/>
              </a:rPr>
            </a:br>
            <a:endParaRPr sz="2175">
              <a:latin typeface="Arial"/>
              <a:ea typeface="Arial"/>
              <a:cs typeface="Arial"/>
              <a:sym typeface="Arial"/>
            </a:endParaRPr>
          </a:p>
          <a:p>
            <a:pPr indent="-356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175">
                <a:latin typeface="Arial"/>
                <a:ea typeface="Arial"/>
                <a:cs typeface="Arial"/>
                <a:sym typeface="Arial"/>
              </a:rPr>
              <a:t>Forecasts enable better decisions in:</a:t>
            </a:r>
            <a:br>
              <a:rPr lang="en-US" sz="2175">
                <a:latin typeface="Arial"/>
                <a:ea typeface="Arial"/>
                <a:cs typeface="Arial"/>
                <a:sym typeface="Arial"/>
              </a:rPr>
            </a:br>
            <a:endParaRPr sz="2175">
              <a:latin typeface="Arial"/>
              <a:ea typeface="Arial"/>
              <a:cs typeface="Arial"/>
              <a:sym typeface="Arial"/>
            </a:endParaRPr>
          </a:p>
          <a:p>
            <a:pPr indent="-356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2175">
                <a:latin typeface="Arial"/>
                <a:ea typeface="Arial"/>
                <a:cs typeface="Arial"/>
                <a:sym typeface="Arial"/>
              </a:rPr>
              <a:t>Tourism marketing strategy</a:t>
            </a:r>
            <a:br>
              <a:rPr b="1" lang="en-US" sz="2175">
                <a:latin typeface="Arial"/>
                <a:ea typeface="Arial"/>
                <a:cs typeface="Arial"/>
                <a:sym typeface="Arial"/>
              </a:rPr>
            </a:br>
            <a:endParaRPr b="1" sz="2175">
              <a:latin typeface="Arial"/>
              <a:ea typeface="Arial"/>
              <a:cs typeface="Arial"/>
              <a:sym typeface="Arial"/>
            </a:endParaRPr>
          </a:p>
          <a:p>
            <a:pPr indent="-356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2175">
                <a:latin typeface="Arial"/>
                <a:ea typeface="Arial"/>
                <a:cs typeface="Arial"/>
                <a:sym typeface="Arial"/>
              </a:rPr>
              <a:t>Hotel pricing and capacity planning</a:t>
            </a:r>
            <a:br>
              <a:rPr b="1" lang="en-US" sz="2175">
                <a:latin typeface="Arial"/>
                <a:ea typeface="Arial"/>
                <a:cs typeface="Arial"/>
                <a:sym typeface="Arial"/>
              </a:rPr>
            </a:br>
            <a:endParaRPr b="1" sz="2175">
              <a:latin typeface="Arial"/>
              <a:ea typeface="Arial"/>
              <a:cs typeface="Arial"/>
              <a:sym typeface="Arial"/>
            </a:endParaRPr>
          </a:p>
          <a:p>
            <a:pPr indent="-356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2175">
                <a:latin typeface="Arial"/>
                <a:ea typeface="Arial"/>
                <a:cs typeface="Arial"/>
                <a:sym typeface="Arial"/>
              </a:rPr>
              <a:t>Transportation scheduling</a:t>
            </a:r>
            <a:br>
              <a:rPr b="1" lang="en-US" sz="2175">
                <a:latin typeface="Arial"/>
                <a:ea typeface="Arial"/>
                <a:cs typeface="Arial"/>
                <a:sym typeface="Arial"/>
              </a:rPr>
            </a:br>
            <a:endParaRPr b="1" sz="2175">
              <a:latin typeface="Arial"/>
              <a:ea typeface="Arial"/>
              <a:cs typeface="Arial"/>
              <a:sym typeface="Arial"/>
            </a:endParaRPr>
          </a:p>
          <a:p>
            <a:pPr indent="-356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2175">
                <a:latin typeface="Arial"/>
                <a:ea typeface="Arial"/>
                <a:cs typeface="Arial"/>
                <a:sym typeface="Arial"/>
              </a:rPr>
              <a:t>Staffing and resource allocation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1017431" y="503583"/>
            <a:ext cx="10336369" cy="1187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Data Source and Characteristics</a:t>
            </a:r>
            <a:br>
              <a:rPr b="1" lang="en-US"/>
            </a:br>
            <a:r>
              <a:rPr lang="en-US" sz="2200"/>
              <a:t> </a:t>
            </a:r>
            <a:br>
              <a:rPr lang="en-US"/>
            </a:br>
            <a:br>
              <a:rPr b="1" lang="en-US"/>
            </a:br>
            <a:endParaRPr b="1"/>
          </a:p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5"/>
          <p:cNvSpPr txBox="1"/>
          <p:nvPr>
            <p:ph idx="2" type="body"/>
          </p:nvPr>
        </p:nvSpPr>
        <p:spPr>
          <a:xfrm>
            <a:off x="1426825" y="790750"/>
            <a:ext cx="10035000" cy="54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Data Source: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Data from fpp2 R package, originally published by the Australian Bureau of Statistics data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Time period: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1981 Q1 – 2012 Q3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Frequency: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Quarterly observations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Scope: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International visitor arrivals to Australia from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Japan,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New Zealand, the UK, and the US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This project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Focuses on Japan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Reliability: 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ABS data is audited, government-certified, ande widely used in academic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forecasting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research.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Characteristics: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Strong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seasonality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and a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long-term trend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— ideal for time series forecasting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1017431" y="503583"/>
            <a:ext cx="103365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Methodology</a:t>
            </a:r>
            <a:br>
              <a:rPr b="1" lang="en-US"/>
            </a:br>
            <a:r>
              <a:rPr lang="en-US" sz="2200"/>
              <a:t> </a:t>
            </a:r>
            <a:br>
              <a:rPr lang="en-US"/>
            </a:br>
            <a:br>
              <a:rPr b="1" lang="en-US"/>
            </a:br>
            <a:endParaRPr b="1"/>
          </a:p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11353800" y="6356350"/>
            <a:ext cx="55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16"/>
          <p:cNvSpPr txBox="1"/>
          <p:nvPr>
            <p:ph idx="2" type="body"/>
          </p:nvPr>
        </p:nvSpPr>
        <p:spPr>
          <a:xfrm>
            <a:off x="1423350" y="1152950"/>
            <a:ext cx="9930600" cy="5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27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Models</a:t>
            </a:r>
            <a:endParaRPr b="1"/>
          </a:p>
          <a:p>
            <a:pPr indent="-2921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Seasonal Decomposition</a:t>
            </a:r>
            <a:endParaRPr/>
          </a:p>
          <a:p>
            <a:pPr indent="-2921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Naïve Model</a:t>
            </a:r>
            <a:endParaRPr/>
          </a:p>
          <a:p>
            <a:pPr indent="-292100" lvl="1" marL="6858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Simple Exponential Smoothing </a:t>
            </a:r>
            <a:endParaRPr/>
          </a:p>
          <a:p>
            <a:pPr indent="-292100" lvl="1" marL="6858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Holt-Winter 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55270" lvl="0" marL="2286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Accuracy Measures</a:t>
            </a:r>
            <a:endParaRPr b="1"/>
          </a:p>
          <a:p>
            <a:pPr indent="-292100" lvl="1" marL="6858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MAPE - Percentage error, intuitive for business </a:t>
            </a:r>
            <a:r>
              <a:rPr lang="en-US"/>
              <a:t>decision</a:t>
            </a:r>
            <a:r>
              <a:rPr lang="en-US"/>
              <a:t>-making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1017431" y="503583"/>
            <a:ext cx="103365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Exploration</a:t>
            </a:r>
            <a:br>
              <a:rPr b="1" lang="en-US"/>
            </a:br>
            <a:r>
              <a:rPr lang="en-US" sz="2200"/>
              <a:t> </a:t>
            </a:r>
            <a:br>
              <a:rPr lang="en-US"/>
            </a:br>
            <a:br>
              <a:rPr b="1" lang="en-US"/>
            </a:br>
            <a:endParaRPr b="1"/>
          </a:p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11353800" y="6356350"/>
            <a:ext cx="55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29825"/>
            <a:ext cx="11756723" cy="566744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>
            <p:ph idx="2" type="body"/>
          </p:nvPr>
        </p:nvSpPr>
        <p:spPr>
          <a:xfrm>
            <a:off x="1423350" y="1152950"/>
            <a:ext cx="9930600" cy="5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27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Strong annual seasonality  </a:t>
            </a:r>
            <a:endParaRPr/>
          </a:p>
          <a:p>
            <a:pPr indent="-2921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repeating peak every Q1/Q3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55270" lvl="0" marL="2286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Long-term trend</a:t>
            </a:r>
            <a:endParaRPr/>
          </a:p>
          <a:p>
            <a:pPr indent="-292100" lvl="1" marL="6858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growth before 1996</a:t>
            </a:r>
            <a:endParaRPr/>
          </a:p>
          <a:p>
            <a:pPr indent="-292100" lvl="1" marL="6858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decline until 2012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55270" lvl="0" marL="2286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Data refinement</a:t>
            </a:r>
            <a:endParaRPr/>
          </a:p>
          <a:p>
            <a:pPr indent="-292100" lvl="1" marL="6858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Remove historic data before 1996 - retain more relevant trend period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1017431" y="503583"/>
            <a:ext cx="103365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Exploration(Continue)</a:t>
            </a:r>
            <a:br>
              <a:rPr b="1" lang="en-US"/>
            </a:br>
            <a:r>
              <a:rPr lang="en-US" sz="2200"/>
              <a:t> </a:t>
            </a:r>
            <a:br>
              <a:rPr lang="en-US"/>
            </a:br>
            <a:br>
              <a:rPr b="1" lang="en-US"/>
            </a:br>
            <a:endParaRPr b="1"/>
          </a:p>
        </p:txBody>
      </p:sp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11353800" y="6356350"/>
            <a:ext cx="55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525" y="3258484"/>
            <a:ext cx="5340649" cy="30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475" y="3306789"/>
            <a:ext cx="6133950" cy="283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/>
          <p:nvPr>
            <p:ph idx="2" type="body"/>
          </p:nvPr>
        </p:nvSpPr>
        <p:spPr>
          <a:xfrm>
            <a:off x="934525" y="733250"/>
            <a:ext cx="9930600" cy="25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Time series view: </a:t>
            </a:r>
            <a:endParaRPr/>
          </a:p>
          <a:p>
            <a:pPr indent="-26543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Char char="•"/>
            </a:pPr>
            <a:r>
              <a:rPr lang="en-US"/>
              <a:t>Shows clear repeated seasonal structure and downward trend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ACF plot:</a:t>
            </a:r>
            <a:endParaRPr/>
          </a:p>
          <a:p>
            <a:pPr indent="-265430" lvl="1" marL="685800" rtl="0" algn="l">
              <a:spcBef>
                <a:spcPts val="0"/>
              </a:spcBef>
              <a:spcAft>
                <a:spcPts val="0"/>
              </a:spcAft>
              <a:buSzPct val="116666"/>
              <a:buChar char="•"/>
            </a:pPr>
            <a:r>
              <a:rPr lang="en-US"/>
              <a:t>Repeating </a:t>
            </a:r>
            <a:r>
              <a:rPr lang="en-US"/>
              <a:t>spikes</a:t>
            </a:r>
            <a:r>
              <a:rPr lang="en-US"/>
              <a:t> at lag 4, 8,12, </a:t>
            </a:r>
            <a:r>
              <a:rPr lang="en-US"/>
              <a:t>confirms</a:t>
            </a:r>
            <a:r>
              <a:rPr lang="en-US"/>
              <a:t> quarterly seasonality</a:t>
            </a:r>
            <a:endParaRPr/>
          </a:p>
          <a:p>
            <a:pPr indent="-265430" lvl="1" marL="685800" rtl="0" algn="l">
              <a:spcBef>
                <a:spcPts val="0"/>
              </a:spcBef>
              <a:spcAft>
                <a:spcPts val="0"/>
              </a:spcAft>
              <a:buSzPct val="116666"/>
              <a:buChar char="•"/>
            </a:pPr>
            <a:r>
              <a:rPr lang="en-US"/>
              <a:t>D</a:t>
            </a:r>
            <a:r>
              <a:rPr lang="en-US"/>
              <a:t>ecreasing as lag increases, presence of a long-term trend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Insight:</a:t>
            </a:r>
            <a:endParaRPr/>
          </a:p>
          <a:p>
            <a:pPr indent="-265430" lvl="1" marL="685800" rtl="0" algn="l">
              <a:spcBef>
                <a:spcPts val="0"/>
              </a:spcBef>
              <a:spcAft>
                <a:spcPts val="0"/>
              </a:spcAft>
              <a:buSzPct val="116666"/>
              <a:buChar char="•"/>
            </a:pPr>
            <a:r>
              <a:rPr lang="en-US"/>
              <a:t>D</a:t>
            </a:r>
            <a:r>
              <a:rPr lang="en-US"/>
              <a:t>ata exhibits both  trend and seasonality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838200" y="244425"/>
            <a:ext cx="105156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US"/>
            </a:br>
            <a:r>
              <a:rPr lang="en-US" sz="2200"/>
              <a:t> </a:t>
            </a:r>
            <a:r>
              <a:rPr b="1" lang="en-US"/>
              <a:t>Decomposition</a:t>
            </a:r>
            <a:br>
              <a:rPr b="1" lang="en-US"/>
            </a:br>
            <a:endParaRPr b="1"/>
          </a:p>
        </p:txBody>
      </p:sp>
      <p:sp>
        <p:nvSpPr>
          <p:cNvPr id="136" name="Google Shape;136;p19"/>
          <p:cNvSpPr txBox="1"/>
          <p:nvPr>
            <p:ph idx="2" type="body"/>
          </p:nvPr>
        </p:nvSpPr>
        <p:spPr>
          <a:xfrm>
            <a:off x="6172200" y="1474050"/>
            <a:ext cx="5181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987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Seasonal adjustment</a:t>
            </a:r>
            <a:endParaRPr b="1" sz="2400"/>
          </a:p>
          <a:p>
            <a:pPr indent="-22605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Smooth fluctuation in original data</a:t>
            </a:r>
            <a:endParaRPr sz="2000"/>
          </a:p>
          <a:p>
            <a:pPr indent="-226059" lvl="1" marL="685800" rtl="0" algn="l"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Confirm seasonal fluctuations</a:t>
            </a:r>
            <a:endParaRPr sz="2000"/>
          </a:p>
          <a:p>
            <a:pPr indent="-226059" lvl="1" marL="685800" rtl="0" algn="l"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provide cleaner signal</a:t>
            </a:r>
            <a:endParaRPr/>
          </a:p>
        </p:txBody>
      </p:sp>
      <p:sp>
        <p:nvSpPr>
          <p:cNvPr id="137" name="Google Shape;137;p19"/>
          <p:cNvSpPr txBox="1"/>
          <p:nvPr>
            <p:ph idx="12" type="sldNum"/>
          </p:nvPr>
        </p:nvSpPr>
        <p:spPr>
          <a:xfrm>
            <a:off x="11353800" y="6356350"/>
            <a:ext cx="55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450" y="3092177"/>
            <a:ext cx="5839125" cy="308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4200" y="3092175"/>
            <a:ext cx="5276501" cy="319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/>
        </p:nvSpPr>
        <p:spPr>
          <a:xfrm>
            <a:off x="1955325" y="6052875"/>
            <a:ext cx="25305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 txBox="1"/>
          <p:nvPr>
            <p:ph idx="2" type="body"/>
          </p:nvPr>
        </p:nvSpPr>
        <p:spPr>
          <a:xfrm>
            <a:off x="838200" y="1422824"/>
            <a:ext cx="5181600" cy="17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175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en-US" sz="2400"/>
              <a:t>Decomposition</a:t>
            </a:r>
            <a:r>
              <a:rPr lang="en-US" sz="2400"/>
              <a:t> </a:t>
            </a:r>
            <a:endParaRPr sz="3200"/>
          </a:p>
          <a:p>
            <a:pPr indent="-22605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Additive decomposition</a:t>
            </a:r>
            <a:endParaRPr sz="2000"/>
          </a:p>
          <a:p>
            <a:pPr indent="-226059" lvl="1" marL="685800" rtl="0" algn="l"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Seasonal fluctuations</a:t>
            </a:r>
            <a:endParaRPr sz="2000"/>
          </a:p>
          <a:p>
            <a:pPr indent="-226059" lvl="1" marL="685800" rtl="0" algn="l"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clear decline trend</a:t>
            </a:r>
            <a:endParaRPr sz="2000"/>
          </a:p>
          <a:p>
            <a:pPr indent="-226059" lvl="1" marL="685800" rtl="0" algn="l"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Separate trend from seasonal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838200" y="0"/>
            <a:ext cx="10515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US"/>
            </a:br>
            <a:r>
              <a:rPr lang="en-US" sz="2200"/>
              <a:t> </a:t>
            </a:r>
            <a:r>
              <a:rPr b="1" lang="en-US"/>
              <a:t>Naive Model</a:t>
            </a:r>
            <a:br>
              <a:rPr b="1" lang="en-US"/>
            </a:br>
            <a:endParaRPr b="1"/>
          </a:p>
        </p:txBody>
      </p:sp>
      <p:sp>
        <p:nvSpPr>
          <p:cNvPr id="148" name="Google Shape;148;p20"/>
          <p:cNvSpPr txBox="1"/>
          <p:nvPr>
            <p:ph idx="12" type="sldNum"/>
          </p:nvPr>
        </p:nvSpPr>
        <p:spPr>
          <a:xfrm>
            <a:off x="11353800" y="6356350"/>
            <a:ext cx="55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20"/>
          <p:cNvSpPr txBox="1"/>
          <p:nvPr/>
        </p:nvSpPr>
        <p:spPr>
          <a:xfrm>
            <a:off x="1955325" y="6052875"/>
            <a:ext cx="25305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6200" y="1409025"/>
            <a:ext cx="5273250" cy="258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6200" y="3989450"/>
            <a:ext cx="5328474" cy="27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25" y="3663450"/>
            <a:ext cx="6129124" cy="24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/>
          <p:nvPr>
            <p:ph idx="2" type="body"/>
          </p:nvPr>
        </p:nvSpPr>
        <p:spPr>
          <a:xfrm>
            <a:off x="491725" y="1187175"/>
            <a:ext cx="5181600" cy="22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1844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400"/>
              <a:t>Model Analysis</a:t>
            </a:r>
            <a:endParaRPr b="1" sz="2400"/>
          </a:p>
          <a:p>
            <a:pPr indent="-216534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Repeating the last quarter’s value</a:t>
            </a:r>
            <a:endParaRPr sz="2000"/>
          </a:p>
          <a:p>
            <a:pPr indent="-216534" lvl="1" marL="685800" rtl="0" algn="l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Mape around 21.7% - poor performance</a:t>
            </a:r>
            <a:endParaRPr sz="2000"/>
          </a:p>
          <a:p>
            <a:pPr indent="-216534" lvl="1" marL="685800" rtl="0" algn="l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Fail to capture trend + seasonality</a:t>
            </a:r>
            <a:endParaRPr sz="2000"/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55270" lvl="0" marL="2286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/>
              <a:t>Residual Analysis</a:t>
            </a:r>
            <a:endParaRPr b="1" sz="2400"/>
          </a:p>
          <a:p>
            <a:pPr indent="-231775" lvl="1" marL="685800" rtl="0" algn="l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Large seasonal swings still present</a:t>
            </a:r>
            <a:endParaRPr sz="2000"/>
          </a:p>
          <a:p>
            <a:pPr indent="-231775" lvl="1" marL="685800" rtl="0" algn="l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ACF significant autocorrelation at 4,8,12 lags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838200" y="0"/>
            <a:ext cx="10515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US"/>
            </a:br>
            <a:r>
              <a:rPr lang="en-US" sz="2200"/>
              <a:t> </a:t>
            </a:r>
            <a:r>
              <a:rPr b="1" lang="en-US"/>
              <a:t>Simple Smoothing</a:t>
            </a:r>
            <a:br>
              <a:rPr b="1" lang="en-US"/>
            </a:br>
            <a:endParaRPr b="1"/>
          </a:p>
        </p:txBody>
      </p:sp>
      <p:sp>
        <p:nvSpPr>
          <p:cNvPr id="160" name="Google Shape;160;p21"/>
          <p:cNvSpPr txBox="1"/>
          <p:nvPr>
            <p:ph idx="12" type="sldNum"/>
          </p:nvPr>
        </p:nvSpPr>
        <p:spPr>
          <a:xfrm>
            <a:off x="11353800" y="6356350"/>
            <a:ext cx="55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21"/>
          <p:cNvSpPr txBox="1"/>
          <p:nvPr/>
        </p:nvSpPr>
        <p:spPr>
          <a:xfrm>
            <a:off x="1955325" y="6052875"/>
            <a:ext cx="25305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 txBox="1"/>
          <p:nvPr>
            <p:ph idx="2" type="body"/>
          </p:nvPr>
        </p:nvSpPr>
        <p:spPr>
          <a:xfrm>
            <a:off x="491725" y="1187175"/>
            <a:ext cx="5554500" cy="22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9558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400"/>
              <a:t>Model Analysis</a:t>
            </a:r>
            <a:endParaRPr b="1" sz="2400"/>
          </a:p>
          <a:p>
            <a:pPr indent="-197484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Alpha (α) = 0.28 moderate responsiveness </a:t>
            </a:r>
            <a:endParaRPr sz="2000"/>
          </a:p>
          <a:p>
            <a:pPr indent="-197484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MAPE = 15.86%</a:t>
            </a:r>
            <a:endParaRPr sz="2000"/>
          </a:p>
          <a:p>
            <a:pPr indent="-197484" lvl="1" marL="685800" rtl="0" algn="l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Forecast produces a flat level (no trend/seasonality)</a:t>
            </a:r>
            <a:endParaRPr sz="2000"/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32409" lvl="0" marL="2286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/>
              <a:t>Residual Analysis</a:t>
            </a:r>
            <a:endParaRPr sz="2000"/>
          </a:p>
          <a:p>
            <a:pPr indent="-212725" lvl="1" marL="685800" rtl="0" algn="l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Seasonal patterns remain</a:t>
            </a:r>
            <a:endParaRPr sz="2000"/>
          </a:p>
          <a:p>
            <a:pPr indent="-212725" lvl="1" marL="685800" rtl="0" algn="l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Centered around zero</a:t>
            </a:r>
            <a:endParaRPr sz="2000"/>
          </a:p>
          <a:p>
            <a:pPr indent="-212725" lvl="1" marL="685800" rtl="0" algn="l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ACF shows significant autocorrelation</a:t>
            </a:r>
            <a:endParaRPr sz="2000"/>
          </a:p>
        </p:txBody>
      </p:sp>
      <p:pic>
        <p:nvPicPr>
          <p:cNvPr id="163" name="Google Shape;16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429600"/>
            <a:ext cx="5797274" cy="27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2074" y="1104900"/>
            <a:ext cx="5812386" cy="273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2075" y="3951650"/>
            <a:ext cx="5645424" cy="240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title"/>
          </p:nvPr>
        </p:nvSpPr>
        <p:spPr>
          <a:xfrm>
            <a:off x="838200" y="0"/>
            <a:ext cx="10515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US"/>
            </a:br>
            <a:r>
              <a:rPr lang="en-US" sz="2200"/>
              <a:t> </a:t>
            </a:r>
            <a:r>
              <a:rPr b="1" lang="en-US"/>
              <a:t>Holt-Winter</a:t>
            </a:r>
            <a:br>
              <a:rPr b="1" lang="en-US"/>
            </a:br>
            <a:endParaRPr b="1"/>
          </a:p>
        </p:txBody>
      </p:sp>
      <p:sp>
        <p:nvSpPr>
          <p:cNvPr id="172" name="Google Shape;172;p22"/>
          <p:cNvSpPr txBox="1"/>
          <p:nvPr>
            <p:ph idx="12" type="sldNum"/>
          </p:nvPr>
        </p:nvSpPr>
        <p:spPr>
          <a:xfrm>
            <a:off x="11353800" y="6356350"/>
            <a:ext cx="55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22"/>
          <p:cNvSpPr txBox="1"/>
          <p:nvPr/>
        </p:nvSpPr>
        <p:spPr>
          <a:xfrm>
            <a:off x="1955325" y="6052875"/>
            <a:ext cx="25305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 txBox="1"/>
          <p:nvPr>
            <p:ph idx="2" type="body"/>
          </p:nvPr>
        </p:nvSpPr>
        <p:spPr>
          <a:xfrm>
            <a:off x="491725" y="1187175"/>
            <a:ext cx="5540700" cy="22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07009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400"/>
              <a:t>Model Analysis</a:t>
            </a:r>
            <a:endParaRPr sz="2000"/>
          </a:p>
          <a:p>
            <a:pPr indent="-222250" lvl="1" marL="6858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α = 0.46, β ≈ 0, γ ≈ 0</a:t>
            </a:r>
            <a:endParaRPr sz="2000"/>
          </a:p>
          <a:p>
            <a:pPr indent="-207009" lvl="1" marL="685800" rtl="0" algn="l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MAPE = 7.6%</a:t>
            </a:r>
            <a:endParaRPr sz="2000"/>
          </a:p>
          <a:p>
            <a:pPr indent="-207009" lvl="1" marL="685800" rtl="0" algn="l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Captures level, slight trend and strong seasonality</a:t>
            </a:r>
            <a:endParaRPr sz="2000"/>
          </a:p>
          <a:p>
            <a:pPr indent="0" lvl="0" marL="685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43840" lvl="0" marL="2286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/>
              <a:t>Residual Analysis</a:t>
            </a:r>
            <a:endParaRPr b="1" sz="2400"/>
          </a:p>
          <a:p>
            <a:pPr indent="-222250" lvl="1" marL="685800" rtl="0" algn="l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Centered around zero</a:t>
            </a:r>
            <a:endParaRPr sz="2000"/>
          </a:p>
          <a:p>
            <a:pPr indent="-222250" lvl="1" marL="685800" rtl="0" algn="l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Seasonal pattern largely removed</a:t>
            </a:r>
            <a:endParaRPr sz="2000"/>
          </a:p>
          <a:p>
            <a:pPr indent="-222250" lvl="1" marL="685800" rtl="0" algn="l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ACF shows no significant </a:t>
            </a:r>
            <a:r>
              <a:rPr lang="en-US" sz="2000"/>
              <a:t>autocorrelation</a:t>
            </a:r>
            <a:endParaRPr sz="2000"/>
          </a:p>
        </p:txBody>
      </p:sp>
      <p:pic>
        <p:nvPicPr>
          <p:cNvPr id="175" name="Google Shape;17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2074" y="1104900"/>
            <a:ext cx="5781894" cy="26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1097" y="3799250"/>
            <a:ext cx="5617826" cy="24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428775"/>
            <a:ext cx="5781900" cy="27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title"/>
          </p:nvPr>
        </p:nvSpPr>
        <p:spPr>
          <a:xfrm>
            <a:off x="838200" y="0"/>
            <a:ext cx="10515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US"/>
            </a:br>
            <a:r>
              <a:rPr lang="en-US" sz="2200"/>
              <a:t> </a:t>
            </a:r>
            <a:r>
              <a:rPr b="1" lang="en-US"/>
              <a:t>Recommendation</a:t>
            </a:r>
            <a:br>
              <a:rPr b="1" lang="en-US"/>
            </a:br>
            <a:endParaRPr b="1"/>
          </a:p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11353800" y="6356350"/>
            <a:ext cx="55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1955325" y="6052875"/>
            <a:ext cx="25305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3"/>
          <p:cNvSpPr txBox="1"/>
          <p:nvPr>
            <p:ph idx="2" type="body"/>
          </p:nvPr>
        </p:nvSpPr>
        <p:spPr>
          <a:xfrm>
            <a:off x="5392250" y="1187175"/>
            <a:ext cx="67998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6700" lvl="0" marL="2286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Final </a:t>
            </a:r>
            <a:r>
              <a:rPr b="1" lang="en-US" sz="2400"/>
              <a:t>R</a:t>
            </a:r>
            <a:r>
              <a:rPr b="1" lang="en-US" sz="2400"/>
              <a:t>ecommendation - Holt winter </a:t>
            </a:r>
            <a:endParaRPr b="1" sz="2400"/>
          </a:p>
          <a:p>
            <a:pPr indent="-241300" lvl="1" marL="685800" rtl="0" algn="l"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Balances</a:t>
            </a:r>
            <a:r>
              <a:rPr lang="en-US" sz="2000"/>
              <a:t> </a:t>
            </a:r>
            <a:r>
              <a:rPr b="1" lang="en-US" sz="2000"/>
              <a:t>trend</a:t>
            </a:r>
            <a:r>
              <a:rPr lang="en-US" sz="2000"/>
              <a:t> and strong </a:t>
            </a:r>
            <a:r>
              <a:rPr b="1" lang="en-US" sz="2000"/>
              <a:t>seasonal</a:t>
            </a:r>
            <a:r>
              <a:rPr lang="en-US" sz="2000"/>
              <a:t> pattern</a:t>
            </a:r>
            <a:endParaRPr sz="2000"/>
          </a:p>
          <a:p>
            <a:pPr indent="-241300" lvl="1" marL="685800" rtl="0" algn="l"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Produce realistic dynamic and stable forecast</a:t>
            </a:r>
            <a:endParaRPr sz="2000"/>
          </a:p>
          <a:p>
            <a:pPr indent="-241300" lvl="1" marL="685800" rtl="0" algn="l"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Model assumption </a:t>
            </a:r>
            <a:r>
              <a:rPr lang="en-US" sz="2000"/>
              <a:t>satisfied</a:t>
            </a:r>
            <a:r>
              <a:rPr lang="en-US" sz="2000"/>
              <a:t> </a:t>
            </a:r>
            <a:endParaRPr sz="2000"/>
          </a:p>
        </p:txBody>
      </p:sp>
      <p:sp>
        <p:nvSpPr>
          <p:cNvPr id="187" name="Google Shape;187;p23"/>
          <p:cNvSpPr txBox="1"/>
          <p:nvPr>
            <p:ph idx="2" type="body"/>
          </p:nvPr>
        </p:nvSpPr>
        <p:spPr>
          <a:xfrm>
            <a:off x="659025" y="1187175"/>
            <a:ext cx="3994200" cy="16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987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Rank the model by Mape</a:t>
            </a:r>
            <a:endParaRPr sz="2000"/>
          </a:p>
          <a:p>
            <a:pPr indent="-226059" lvl="1" marL="685800" rtl="0" algn="l"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Holt-winter 7.640%</a:t>
            </a:r>
            <a:endParaRPr sz="2000"/>
          </a:p>
          <a:p>
            <a:pPr indent="-226059" lvl="1" marL="685800" rtl="0" algn="l"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Simple smooth 15.861%</a:t>
            </a:r>
            <a:endParaRPr sz="2000"/>
          </a:p>
          <a:p>
            <a:pPr indent="-226059" lvl="1" marL="685800" rtl="0" algn="l"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naive model 21.747%</a:t>
            </a:r>
            <a:endParaRPr sz="2000"/>
          </a:p>
        </p:txBody>
      </p:sp>
      <p:pic>
        <p:nvPicPr>
          <p:cNvPr id="188" name="Google Shape;18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5625" y="2742450"/>
            <a:ext cx="8599977" cy="361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>
            <p:ph type="title"/>
          </p:nvPr>
        </p:nvSpPr>
        <p:spPr>
          <a:xfrm>
            <a:off x="838200" y="0"/>
            <a:ext cx="10515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US"/>
            </a:br>
            <a:r>
              <a:rPr b="1" lang="en-US">
                <a:latin typeface="Palatino Linotype"/>
                <a:ea typeface="Palatino Linotype"/>
                <a:cs typeface="Palatino Linotype"/>
                <a:sym typeface="Palatino Linotype"/>
              </a:rPr>
              <a:t>Forecast and Conclusion</a:t>
            </a:r>
            <a:br>
              <a:rPr b="1" lang="en-US"/>
            </a:br>
            <a:endParaRPr b="1"/>
          </a:p>
        </p:txBody>
      </p:sp>
      <p:sp>
        <p:nvSpPr>
          <p:cNvPr id="195" name="Google Shape;195;p24"/>
          <p:cNvSpPr txBox="1"/>
          <p:nvPr>
            <p:ph idx="12" type="sldNum"/>
          </p:nvPr>
        </p:nvSpPr>
        <p:spPr>
          <a:xfrm>
            <a:off x="11353800" y="6356350"/>
            <a:ext cx="55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24"/>
          <p:cNvSpPr txBox="1"/>
          <p:nvPr>
            <p:ph idx="2" type="body"/>
          </p:nvPr>
        </p:nvSpPr>
        <p:spPr>
          <a:xfrm>
            <a:off x="644125" y="1187175"/>
            <a:ext cx="9999000" cy="4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987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Next Year</a:t>
            </a:r>
            <a:endParaRPr sz="2000"/>
          </a:p>
          <a:p>
            <a:pPr indent="-2286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Forecasts remain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stable around 90–95 thousand arrivals per quarter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/>
          </a:p>
          <a:p>
            <a:pPr indent="-2286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Short-term seasonal peaks continue but are weaker than historical highs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66700" lvl="0" marL="2286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Next Two Year</a:t>
            </a:r>
            <a:endParaRPr sz="2000"/>
          </a:p>
          <a:p>
            <a:pPr indent="-228600" lvl="1" marL="6858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Arrivals are expected to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stay near current levels or decline slightly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41300" lvl="1" marL="6858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No strong signs of recovery in the medium term.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29870" lvl="0" marL="2286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Conclusion</a:t>
            </a:r>
            <a:endParaRPr sz="2000"/>
          </a:p>
          <a:p>
            <a:pPr indent="-2286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Stabilization after a long-term decline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with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seasonality still present but less pronounced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Remain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flat with moderate seasonal variation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without clear growth momentum in the near future.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>
            <p:ph type="title"/>
          </p:nvPr>
        </p:nvSpPr>
        <p:spPr>
          <a:xfrm>
            <a:off x="838200" y="0"/>
            <a:ext cx="10515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US"/>
            </a:br>
            <a:r>
              <a:rPr b="1" lang="en-US">
                <a:latin typeface="Palatino Linotype"/>
                <a:ea typeface="Palatino Linotype"/>
                <a:cs typeface="Palatino Linotype"/>
                <a:sym typeface="Palatino Linotype"/>
              </a:rPr>
              <a:t>Forecast and Conclusion</a:t>
            </a:r>
            <a:br>
              <a:rPr b="1" lang="en-US"/>
            </a:br>
            <a:endParaRPr b="1"/>
          </a:p>
        </p:txBody>
      </p:sp>
      <p:sp>
        <p:nvSpPr>
          <p:cNvPr id="203" name="Google Shape;203;p25"/>
          <p:cNvSpPr txBox="1"/>
          <p:nvPr>
            <p:ph idx="12" type="sldNum"/>
          </p:nvPr>
        </p:nvSpPr>
        <p:spPr>
          <a:xfrm>
            <a:off x="11353800" y="6356350"/>
            <a:ext cx="55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25"/>
          <p:cNvSpPr txBox="1"/>
          <p:nvPr>
            <p:ph idx="2" type="body"/>
          </p:nvPr>
        </p:nvSpPr>
        <p:spPr>
          <a:xfrm>
            <a:off x="644125" y="1200975"/>
            <a:ext cx="11075700" cy="5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987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E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xtend the dataset</a:t>
            </a:r>
            <a:endParaRPr sz="2400"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Current data ends in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2012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; adding recent years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Incorporate external factors</a:t>
            </a:r>
            <a:br>
              <a:rPr b="1" lang="en-US" sz="2400"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latin typeface="Arial"/>
                <a:ea typeface="Arial"/>
                <a:cs typeface="Arial"/>
                <a:sym typeface="Arial"/>
              </a:rPr>
              <a:t>Tourism arrivals are also influenced by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exchange rates, economic conditions, airline capacity, and policy changes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latin typeface="Arial"/>
                <a:ea typeface="Arial"/>
                <a:cs typeface="Arial"/>
                <a:sym typeface="Arial"/>
              </a:rPr>
              <a:t>Including these variables could significantly enhance forecast reliability.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Try advanced forecasting models</a:t>
            </a:r>
            <a:br>
              <a:rPr b="1" lang="en-US" sz="2400"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latin typeface="Arial"/>
                <a:ea typeface="Arial"/>
                <a:cs typeface="Arial"/>
                <a:sym typeface="Arial"/>
              </a:rPr>
              <a:t>Explore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ARIMA, ETS variations, or machine-learning-based models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for potentially better predictive performance.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Palatino Linotype"/>
              <a:buNone/>
            </a:pPr>
            <a:r>
              <a:rPr lang="en-US" sz="9500">
                <a:latin typeface="Caveat Medium"/>
                <a:ea typeface="Caveat Medium"/>
                <a:cs typeface="Caveat Medium"/>
                <a:sym typeface="Caveat Medium"/>
              </a:rPr>
              <a:t>Thank you！</a:t>
            </a:r>
            <a:endParaRPr i="1" sz="9500"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210" name="Google Shape;210;p26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26"/>
          <p:cNvSpPr txBox="1"/>
          <p:nvPr/>
        </p:nvSpPr>
        <p:spPr>
          <a:xfrm>
            <a:off x="14630400" y="408790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